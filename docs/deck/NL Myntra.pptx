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11D1B"/>
                </a:solidFill>
                <a:latin typeface="Arial"/>
              </a:defRPr>
            </a:pPr>
            <a:r>
              <a:rPr sz="1400" b="0" i="0" u="none" strike="noStrike">
                <a:solidFill>
                  <a:srgbClr val="211D1B"/>
                </a:solidFill>
                <a:latin typeface="Arial"/>
              </a:rPr>
              <a:t>Barrier categories in the frozen gold set (n=137)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Gold-set count</c:v>
                </c:pt>
              </c:strCache>
            </c:strRef>
          </c:tx>
          <c:spPr>
            <a:solidFill>
              <a:srgbClr val="5B3A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211D1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price_certainty</c:v>
                  </c:pt>
                  <c:pt idx="1">
                    <c:v>quality_trust</c:v>
                  </c:pt>
                  <c:pt idx="2">
                    <c:v>fit_size</c:v>
                  </c:pt>
                  <c:pt idx="3">
                    <c:v>availability_decay</c:v>
                  </c:pt>
                  <c:pt idx="4">
                    <c:v>occasion_styling</c:v>
                  </c:pt>
                  <c:pt idx="5">
                    <c:v>timing_forgetting</c:v>
                  </c:pt>
                  <c:pt idx="6">
                    <c:v>bookmark_not_intent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11</c:v>
                </c:pt>
                <c:pt idx="1">
                  <c:v>7</c:v>
                </c:pt>
                <c:pt idx="2">
                  <c:v>6</c:v>
                </c:pt>
                <c:pt idx="3">
                  <c:v>5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211D1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4A433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6F1EA"/>
        </a:solidFill>
        <a:ln>
          <a:noFill/>
        </a:ln>
        <a:effectLst/>
      </c:spPr>
    </c:plotArea>
    <c:plotVisOnly val="1"/>
    <c:dispBlanksAs val="span"/>
  </c:chart>
  <c:spPr>
    <a:solidFill>
      <a:srgbClr val="F6F1E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1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C9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MYNTRA · GROWTH · WISHLIST-TO-PURCHASE CONVERSION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10881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6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Wishlist saves rarely become purchases — and reviews alone can't explain why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331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goal: increase the % of users who purchase at least one wishlisted item within 30 days of adding it.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3246120"/>
            <a:ext cx="1691640" cy="1051560"/>
          </a:xfrm>
          <a:prstGeom prst="roundRect">
            <a:avLst>
              <a:gd name="adj" fmla="val 6957"/>
            </a:avLst>
          </a:prstGeom>
          <a:solidFill>
            <a:srgbClr val="5B3A4A"/>
          </a:solidFill>
          <a:ln w="6350">
            <a:solidFill>
              <a:srgbClr val="6E4A5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3246120"/>
            <a:ext cx="15453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331720" y="3246120"/>
            <a:ext cx="182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496312" y="3246120"/>
            <a:ext cx="1691640" cy="1051560"/>
          </a:xfrm>
          <a:prstGeom prst="roundRect">
            <a:avLst>
              <a:gd name="adj" fmla="val 6957"/>
            </a:avLst>
          </a:prstGeom>
          <a:solidFill>
            <a:srgbClr val="6E4A5B"/>
          </a:solidFill>
          <a:ln w="6350">
            <a:solidFill>
              <a:srgbClr val="6E4A5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69464" y="3246120"/>
            <a:ext cx="15453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187952" y="3246120"/>
            <a:ext cx="182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352544" y="3246120"/>
            <a:ext cx="1691640" cy="1051560"/>
          </a:xfrm>
          <a:prstGeom prst="roundRect">
            <a:avLst>
              <a:gd name="adj" fmla="val 6957"/>
            </a:avLst>
          </a:prstGeom>
          <a:solidFill>
            <a:srgbClr val="5B3A4A"/>
          </a:solidFill>
          <a:ln w="6350">
            <a:solidFill>
              <a:srgbClr val="6E4A5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425696" y="3246120"/>
            <a:ext cx="15453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Price-Certainty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044184" y="3246120"/>
            <a:ext cx="182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208776" y="3246120"/>
            <a:ext cx="1691640" cy="1051560"/>
          </a:xfrm>
          <a:prstGeom prst="roundRect">
            <a:avLst>
              <a:gd name="adj" fmla="val 6957"/>
            </a:avLst>
          </a:prstGeom>
          <a:solidFill>
            <a:srgbClr val="6E4A5B"/>
          </a:solidFill>
          <a:ln w="6350">
            <a:solidFill>
              <a:srgbClr val="6E4A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81928" y="3246120"/>
            <a:ext cx="15453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Re-encounter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900416" y="3246120"/>
            <a:ext cx="182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65008" y="3246120"/>
            <a:ext cx="1691640" cy="1051560"/>
          </a:xfrm>
          <a:prstGeom prst="roundRect">
            <a:avLst>
              <a:gd name="adj" fmla="val 6957"/>
            </a:avLst>
          </a:prstGeom>
          <a:solidFill>
            <a:srgbClr val="5B3A4A"/>
          </a:solidFill>
          <a:ln w="6350">
            <a:solidFill>
              <a:srgbClr val="6E4A5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138160" y="3246120"/>
            <a:ext cx="15453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756648" y="3246120"/>
            <a:ext cx="182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9921240" y="3246120"/>
            <a:ext cx="1691640" cy="1051560"/>
          </a:xfrm>
          <a:prstGeom prst="roundRect">
            <a:avLst>
              <a:gd name="adj" fmla="val 6957"/>
            </a:avLst>
          </a:prstGeom>
          <a:solidFill>
            <a:srgbClr val="6E4A5B"/>
          </a:solidFill>
          <a:ln w="6350">
            <a:solidFill>
              <a:srgbClr val="6E4A5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994392" y="3246120"/>
            <a:ext cx="15453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46634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B9AE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factor breaks down — and for whom — was unknown going in. That's what this project set out to find, end to end: AI discovery → primary research → a working, evidence-grounded MVP.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Conversion  |  NL Myntra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9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AI discovery engine classified 2,203 user voices across 3 sources — here's how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83080"/>
            <a:ext cx="175564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316736" y="1929384"/>
            <a:ext cx="402336" cy="402336"/>
          </a:xfrm>
          <a:prstGeom prst="ellipse">
            <a:avLst/>
          </a:prstGeom>
          <a:solidFill>
            <a:srgbClr val="5B3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16736" y="19293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404872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743200"/>
            <a:ext cx="1609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apps, 2 sources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395728" y="1783080"/>
            <a:ext cx="1645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542032" y="1783080"/>
            <a:ext cx="175564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18688" y="1929384"/>
            <a:ext cx="402336" cy="402336"/>
          </a:xfrm>
          <a:prstGeom prst="ellipse">
            <a:avLst/>
          </a:prstGeom>
          <a:solidFill>
            <a:srgbClr val="5B3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18688" y="19293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615184" y="2404872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15184" y="2743200"/>
            <a:ext cx="1609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Dedupe + PII scrub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297680" y="1783080"/>
            <a:ext cx="1645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443984" y="1783080"/>
            <a:ext cx="175564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120640" y="1929384"/>
            <a:ext cx="402336" cy="402336"/>
          </a:xfrm>
          <a:prstGeom prst="ellipse">
            <a:avLst/>
          </a:prstGeom>
          <a:solidFill>
            <a:srgbClr val="5B3A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120640" y="19293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517136" y="2404872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Pre-filter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517136" y="2743200"/>
            <a:ext cx="1609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relevance pass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199632" y="1783080"/>
            <a:ext cx="1645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345936" y="1783080"/>
            <a:ext cx="175564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022592" y="1929384"/>
            <a:ext cx="402336" cy="402336"/>
          </a:xfrm>
          <a:prstGeom prst="ellipse">
            <a:avLst/>
          </a:prstGeom>
          <a:solidFill>
            <a:srgbClr val="B5822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022592" y="19293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419088" y="2404872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Set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419088" y="2743200"/>
            <a:ext cx="1609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n=137, 89.4% agree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8101584" y="1783080"/>
            <a:ext cx="1645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247888" y="1783080"/>
            <a:ext cx="175564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924544" y="1929384"/>
            <a:ext cx="402336" cy="402336"/>
          </a:xfrm>
          <a:prstGeom prst="ellipse">
            <a:avLst/>
          </a:prstGeom>
          <a:solidFill>
            <a:srgbClr val="5B3A4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924544" y="19293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321040" y="2404872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 Agent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2743200"/>
            <a:ext cx="1609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Groq, retry-escalation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0003536" y="1783080"/>
            <a:ext cx="1645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10149840" y="1783080"/>
            <a:ext cx="175564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10826496" y="1929384"/>
            <a:ext cx="402336" cy="402336"/>
          </a:xfrm>
          <a:prstGeom prst="ellipse">
            <a:avLst/>
          </a:prstGeom>
          <a:solidFill>
            <a:srgbClr val="5B3A4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0826496" y="19293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10222992" y="2404872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22992" y="2743200"/>
            <a:ext cx="1609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Evidence-grounded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640080" y="3566160"/>
            <a:ext cx="3291840" cy="1234440"/>
          </a:xfrm>
          <a:prstGeom prst="roundRect">
            <a:avLst>
              <a:gd name="adj" fmla="val 5926"/>
            </a:avLst>
          </a:prstGeom>
          <a:solidFill>
            <a:srgbClr val="5B3A4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822960" y="363931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6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2,203</a:t>
            </a:r>
            <a:endParaRPr lang="en-US" sz="32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" y="418795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D9C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classified, checkpointed — stopped intentionally, not stalled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4114800" y="3566160"/>
            <a:ext cx="69494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5875">
            <a:solidFill>
              <a:srgbClr val="4B6B4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343400" y="370332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4B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THE DISCOVERY ENGINE LIVE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343400" y="4041648"/>
            <a:ext cx="6492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11D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https://zeusworkspace1.app.n8n.cloud/webhook/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11D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wishlist-discovery-engine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640080" y="507492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honest scope decision: Reddit was excluded. Reddit's Responsible Builder Policy funnels bulk research use through a formal researcher program with a timeline this project's window couldn't accommodate — disclosed here, not quietly worked around.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Conversion  |  NL Myntra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Reviews found two real barriers — and revealed their own blind spot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737360"/>
          <a:ext cx="64008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7360920" y="1737360"/>
            <a:ext cx="4160520" cy="1234440"/>
          </a:xfrm>
          <a:prstGeom prst="roundRect">
            <a:avLst>
              <a:gd name="adj" fmla="val 5926"/>
            </a:avLst>
          </a:prstGeom>
          <a:solidFill>
            <a:srgbClr val="5B3A4A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589520" y="181051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6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 = 137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7589520" y="2359152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D9C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human-labeled gold set — 2 independent labelers, 89.4% raw agreement, 100% category agreement on jointly-flagged items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7360920" y="3154680"/>
            <a:ext cx="416052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589520" y="322783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582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0.875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7589520" y="3776472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classifier accuracy against human labels — measured, not assumed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360920" y="4572000"/>
            <a:ext cx="4160520" cy="1280160"/>
          </a:xfrm>
          <a:prstGeom prst="roundRect">
            <a:avLst>
              <a:gd name="adj" fmla="val 5714"/>
            </a:avLst>
          </a:prstGeom>
          <a:solidFill>
            <a:srgbClr val="EFE6D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589520" y="4681728"/>
            <a:ext cx="3703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categories never appeared in review corpora at all — not because they're rare, but because reviews are the wrong place to find them. Primary research picks up where the corpus stops.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Conversion  |  NL Myntra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one of 6 interviewees hit the same wall: items disappear before they decide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8308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5B3A4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92024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6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6/6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5603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D9C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interviews independently raised it, unprompted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251960" y="178308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5B3A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480560" y="192024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6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32/32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480560" y="25603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D9C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respondents (100%) have experienced it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863840" y="178308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EFE6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092440" y="192024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~0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8092440" y="25603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gold-set corpus examples — reviews miss it almost entirely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429000"/>
            <a:ext cx="108813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4B6B4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361188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“If something says only two left, I'll probably decide faster.”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420624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interview respondent, on how a near-miss stock-out changed future decision speed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50749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A4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independent methods — corpus, survey, interviews — converge on one answer: availability decay is real and common, and app reviews are structurally the wrong instrument to measure it.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Conversion  |  NL Myntra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real problem: purchase intent, blocked by different uncertainty at the moment of decision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28800"/>
            <a:ext cx="5257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048256"/>
            <a:ext cx="146304" cy="146304"/>
          </a:xfrm>
          <a:prstGeom prst="ellipse">
            <a:avLst/>
          </a:prstGeom>
          <a:solidFill>
            <a:srgbClr val="5B3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70432" y="20116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5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377440"/>
            <a:ext cx="4663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Wishlist-savers with unresolved decision-stage uncertainty — spans price, fit, quality, occasion, and availability doubt, not one narrow group.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63640" y="1828800"/>
            <a:ext cx="5257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37960" y="2048256"/>
            <a:ext cx="146304" cy="146304"/>
          </a:xfrm>
          <a:prstGeom prst="ellipse">
            <a:avLst/>
          </a:prstGeom>
          <a:solidFill>
            <a:srgbClr val="5B3A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93992" y="20116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5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2377440"/>
            <a:ext cx="4663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disinterest. A specific, often-nameable uncertainty sits between saving and buying — and today's wishlist gives the user no help resolving it.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4069080"/>
            <a:ext cx="5257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4288536"/>
            <a:ext cx="146304" cy="146304"/>
          </a:xfrm>
          <a:prstGeom prst="ellipse">
            <a:avLst/>
          </a:prstGeom>
          <a:solidFill>
            <a:srgbClr val="B5822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70432" y="42519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 WORKAROUND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4617720"/>
            <a:ext cx="4663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already compensate manually: cross-platform price/review checks, substitute purchases, and rushed decisions after a stock-out scare.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63640" y="4069080"/>
            <a:ext cx="5257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37960" y="4288536"/>
            <a:ext cx="146304" cy="146304"/>
          </a:xfrm>
          <a:prstGeom prst="ellipse">
            <a:avLst/>
          </a:prstGeom>
          <a:solidFill>
            <a:srgbClr val="B5822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793992" y="42519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0" y="4617720"/>
            <a:ext cx="4663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User: less regret, less re-research effort. Business: converts demand that's already explicit and already on the platform — no acquisition cost.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Conversion  |  NL Myntra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Discovery Concierge that resolves the one barrier blocking each save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5544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B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 honored: no monetary incentives — every nudge resolves real uncertainty. None manufacture urgency or offer a discount.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342900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061972" y="2651760"/>
            <a:ext cx="585216" cy="585216"/>
          </a:xfrm>
          <a:prstGeom prst="ellipse">
            <a:avLst/>
          </a:prstGeom>
          <a:solidFill>
            <a:srgbClr val="5B3A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061972" y="26517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47472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Evidence-backed reasoning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4114800"/>
            <a:ext cx="2788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A4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recommendation traces to a real theme, a real review, or a real interview finding — never a generic “picked for you.”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51960" y="2331720"/>
            <a:ext cx="342900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673852" y="2651760"/>
            <a:ext cx="585216" cy="585216"/>
          </a:xfrm>
          <a:prstGeom prst="ellipse">
            <a:avLst/>
          </a:prstGeom>
          <a:solidFill>
            <a:srgbClr val="B5822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73852" y="26517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347472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confidence states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4114800"/>
            <a:ext cx="2788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A4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/ Medium / Insufficient-evidence, always icon + color + label together — confidence is shown, never implied by color alone.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863840" y="2331720"/>
            <a:ext cx="342900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285732" y="2651760"/>
            <a:ext cx="585216" cy="585216"/>
          </a:xfrm>
          <a:prstGeom prst="ellipse">
            <a:avLst/>
          </a:prstGeom>
          <a:solidFill>
            <a:srgbClr val="4B6B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285732" y="26517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138160" y="347472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manufactured urgency</a:t>
            </a:r>
            <a:endParaRPr lang="en-US" sz="1550" dirty="0"/>
          </a:p>
        </p:txBody>
      </p:sp>
      <p:sp>
        <p:nvSpPr>
          <p:cNvPr id="18" name="Text 16"/>
          <p:cNvSpPr txBox="1"/>
          <p:nvPr/>
        </p:nvSpPr>
        <p:spPr>
          <a:xfrm>
            <a:off x="8183880" y="4114800"/>
            <a:ext cx="2788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A4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if I wait” tells the truth — a real scarcity fact, or an honest “nothing changes.” Never a fake countdown.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Conversion  |  NL Myntra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MVP: real evidence, never guessed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83080"/>
            <a:ext cx="24688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7830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Picker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108960" y="1783080"/>
            <a:ext cx="2468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337560" y="1783080"/>
            <a:ext cx="24688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74720" y="17830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Grid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806440" y="1783080"/>
            <a:ext cx="2468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035040" y="1783080"/>
            <a:ext cx="24688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172200" y="17830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Detail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503920" y="1783080"/>
            <a:ext cx="2468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732520" y="1783080"/>
            <a:ext cx="2468880" cy="1188720"/>
          </a:xfrm>
          <a:prstGeom prst="roundRect">
            <a:avLst>
              <a:gd name="adj" fmla="val 6154"/>
            </a:avLst>
          </a:prstGeom>
          <a:solidFill>
            <a:srgbClr val="5B3A4A"/>
          </a:solidFill>
          <a:ln w="12700">
            <a:solidFill>
              <a:srgbClr val="5B3A4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869680" y="17830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Trace Widget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3246120"/>
            <a:ext cx="10881360" cy="1600200"/>
          </a:xfrm>
          <a:prstGeom prst="roundRect">
            <a:avLst>
              <a:gd name="adj" fmla="val 4571"/>
            </a:avLst>
          </a:prstGeom>
          <a:solidFill>
            <a:srgbClr val="EFE6D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14400" y="342900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5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FLAGSHIP CASE — WIDE-LEG JEANS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74904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“If it was 1,200 I probably would've bought it then and there.” — real interview quote, directly powering the item's price-history chart and confidence reasoning in the live MVP. Not a template filled with a plausible-sounding guess.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507492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5875">
            <a:solidFill>
              <a:srgbClr val="4B6B4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" y="51937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4B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MVP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54681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1D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https://mvp-henna-delta.vercel.app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Conversion  |  NL Myntra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don't trust AI insights blindly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83080"/>
            <a:ext cx="5212080" cy="1965960"/>
          </a:xfrm>
          <a:prstGeom prst="roundRect">
            <a:avLst>
              <a:gd name="adj" fmla="val 3721"/>
            </a:avLst>
          </a:prstGeom>
          <a:solidFill>
            <a:srgbClr val="5B3A4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92024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6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0.875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60604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9C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 — classifier accuracy measured against 137 human-labeled reviews, not self-graded.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080760" y="1783080"/>
            <a:ext cx="54406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5875">
            <a:solidFill>
              <a:srgbClr val="B5822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309360" y="192024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582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Kappa = 0.159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6309360" y="260604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A4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E3 — cross-model agreement, disclosed as a real limitation of the smaller local backup model, not smoothed over.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977640"/>
            <a:ext cx="10881360" cy="1691640"/>
          </a:xfrm>
          <a:prstGeom prst="roundRect">
            <a:avLst>
              <a:gd name="adj" fmla="val 4324"/>
            </a:avLst>
          </a:prstGeom>
          <a:solidFill>
            <a:srgbClr val="EFE6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41605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categories aren't the problem — the small local model is.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452628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independent human labelers, using the same taxonomy, reached 89.4% raw agreement and 100% category agreement on items they both flagged relevant. The task is learnable. E3's low kappa reflects a genuinely undersized local model standing in for a stronger one — not an ambiguous codebook. Production classification uses the stronger hosted model; the small local model is a documented fallback, not the primary path.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Conversion  |  NL Myntra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Success means saves that convert, not saves that pile up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108813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32688" y="1874520"/>
            <a:ext cx="146304" cy="146304"/>
          </a:xfrm>
          <a:prstGeom prst="ellipse">
            <a:avLst/>
          </a:prstGeom>
          <a:solidFill>
            <a:srgbClr val="5B3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88720" y="18196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5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STAR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0939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Wishlist-to-Purchase, Within 30 Days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496312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business metric this whole project decomposes and targets. Unchanged.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154680"/>
            <a:ext cx="108813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32688" y="3337560"/>
            <a:ext cx="146304" cy="146304"/>
          </a:xfrm>
          <a:prstGeom prst="ellipse">
            <a:avLst/>
          </a:prstGeom>
          <a:solidFill>
            <a:srgbClr val="B5822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88720" y="32826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LEADING INDICATORS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355701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Trace-widget open rate  ·  Trace-to-cart conversion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3959352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reasoning get read — and does resolving uncertainty actually lead to action?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4617720"/>
            <a:ext cx="108813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32688" y="4800600"/>
            <a:ext cx="146304" cy="146304"/>
          </a:xfrm>
          <a:prstGeom prst="ellipse">
            <a:avLst/>
          </a:prstGeom>
          <a:solidFill>
            <a:srgbClr val="4B6B4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188720" y="47457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4B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0120" y="502005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False-urgency rate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960120" y="5422392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if I wait” shown where stock/price didn't actually change afterward. Designed in from day one, not added for this slide.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Conversion  |  NL Myntra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11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F6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could go wrong, and what we're doing about it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28800"/>
            <a:ext cx="5257800" cy="1965960"/>
          </a:xfrm>
          <a:prstGeom prst="roundRect">
            <a:avLst>
              <a:gd name="adj" fmla="val 3721"/>
            </a:avLst>
          </a:prstGeom>
          <a:solidFill>
            <a:srgbClr val="2C2622"/>
          </a:solidFill>
          <a:ln w="12700">
            <a:solidFill>
              <a:srgbClr val="463D3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993392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categories, wobbly numbers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395728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9AE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fit_size / quality_trust / price_certainty rest on small samples (n=5–11); recall moved run to run (0.4→0.5→0.545).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035808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FAF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 Treated as directional, disclosed in every writeup — never presented as exact.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63640" y="1828800"/>
            <a:ext cx="5257800" cy="1965960"/>
          </a:xfrm>
          <a:prstGeom prst="roundRect">
            <a:avLst>
              <a:gd name="adj" fmla="val 3721"/>
            </a:avLst>
          </a:prstGeom>
          <a:solidFill>
            <a:srgbClr val="2C2622"/>
          </a:solidFill>
          <a:ln w="12700">
            <a:solidFill>
              <a:srgbClr val="463D3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37960" y="1993392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skews toward complaints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2395728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9AE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Review-writers aren't representative; Reddit was scoped out for policy reasons.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3035808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FAF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 Triangulated against survey (n=32) and interviews (n=6) — caught what the corpus alone would have missed.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4069080"/>
            <a:ext cx="5257800" cy="1965960"/>
          </a:xfrm>
          <a:prstGeom prst="roundRect">
            <a:avLst>
              <a:gd name="adj" fmla="val 3721"/>
            </a:avLst>
          </a:prstGeom>
          <a:solidFill>
            <a:srgbClr val="2C2622"/>
          </a:solidFill>
          <a:ln w="12700">
            <a:solidFill>
              <a:srgbClr val="463D3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4233672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Local-model consistency is weak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4636008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9AE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 = 0.159 between the primary and backup classifiers.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5276088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FAF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 Production path uses the stronger hosted model with retry-escalation; local is a documented fallback only.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63640" y="4069080"/>
            <a:ext cx="5257800" cy="1965960"/>
          </a:xfrm>
          <a:prstGeom prst="roundRect">
            <a:avLst>
              <a:gd name="adj" fmla="val 3721"/>
            </a:avLst>
          </a:prstGeom>
          <a:solidFill>
            <a:srgbClr val="2C2622"/>
          </a:solidFill>
          <a:ln w="12700">
            <a:solidFill>
              <a:srgbClr val="463D3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37960" y="4233672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reasoning is templated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537960" y="4636008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9AE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MVP doesn't yet call a live model against real per-user history.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5276088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FAF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 Disclosed openly. Deterministic-retrieval-then-narration is already the intended production architecture.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Conversion  |  NL Myntra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9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2026-08-27T19:09:08Z</dcterms:created>
  <dcterms:modified xsi:type="dcterms:W3CDTF">2026-08-27T19:09:08Z</dcterms:modified>
</cp:coreProperties>
</file>