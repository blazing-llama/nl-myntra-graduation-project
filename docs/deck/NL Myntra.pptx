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211D1B"/>
                </a:solidFill>
                <a:latin typeface="Arial"/>
              </a:defRPr>
            </a:pPr>
            <a:r>
              <a:rPr sz="1400" b="0" i="0" u="none" strike="noStrike">
                <a:solidFill>
                  <a:srgbClr val="211D1B"/>
                </a:solidFill>
                <a:latin typeface="Arial"/>
              </a:rPr>
              <a:t>Barrier categories found (frozen gold set, n=137)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Gold-set count</c:v>
                </c:pt>
              </c:strCache>
            </c:strRef>
          </c:tx>
          <c:spPr>
            <a:solidFill>
              <a:srgbClr val="5B3A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400" u="none">
                    <a:solidFill>
                      <a:srgbClr val="211D1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price_certainty</c:v>
                  </c:pt>
                  <c:pt idx="1">
                    <c:v>quality_trust</c:v>
                  </c:pt>
                  <c:pt idx="2">
                    <c:v>fit_size</c:v>
                  </c:pt>
                  <c:pt idx="3">
                    <c:v>availability_decay</c:v>
                  </c:pt>
                  <c:pt idx="4">
                    <c:v>occasion_styling</c:v>
                  </c:pt>
                  <c:pt idx="5">
                    <c:v>timing_forgetting</c:v>
                  </c:pt>
                  <c:pt idx="6">
                    <c:v>bookmark_not_intent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</c:v>
                </c:pt>
                <c:pt idx="1">
                  <c:v>7</c:v>
                </c:pt>
                <c:pt idx="2">
                  <c:v>6</c:v>
                </c:pt>
                <c:pt idx="3">
                  <c:v>5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400" u="none">
                  <a:solidFill>
                    <a:srgbClr val="211D1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4A433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6F1EA"/>
        </a:solidFill>
        <a:ln>
          <a:noFill/>
        </a:ln>
        <a:effectLst/>
      </c:spPr>
    </c:plotArea>
    <c:plotVisOnly val="1"/>
    <c:dispBlanksAs val="span"/>
  </c:chart>
  <c:spPr>
    <a:solidFill>
      <a:srgbClr val="F6F1E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zeusworkspace1.app.n8n.cloud/webhook/wishlist-discovery-engine" TargetMode="External"/><Relationship Id="rId2" Type="http://schemas.openxmlformats.org/officeDocument/2006/relationships/hyperlink" Target="https://github.com/blazing-llama/NL-Myntra-Graduation-Project/blob/main/docs/codebook.md" TargetMode="External"/><Relationship Id="rId3" Type="http://schemas.openxmlformats.org/officeDocument/2006/relationships/hyperlink" Target="https://nl-myntra-graduation-project-naspi2s3gtajwsv79uwe8w.streamlit.app/" TargetMode="Externa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cs.google.com/forms/d/e/1FAIpQLScsU5OcvTbEetugF0pG-ek2eo_8VEz1DLEjX0gMDsydgOHizA/viewform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blazing-llama/NL-Myntra-Graduation-Project/blob/main/docs/decisions/problem-definition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blazing-llama/NL-Myntra-Graduation-Project/blob/main/docs/decisions/opportunity-selection.md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mvp-henna-delta.vercel.app" TargetMode="External"/><Relationship Id="rId2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image" Target="../media/image-8-3.png"/><Relationship Id="rId5" Type="http://schemas.openxmlformats.org/officeDocument/2006/relationships/image" Target="../media/image-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blazing-llama/NL-Myntra-Graduation-Project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MYNTRA · GROWTH · WISHLIST-TO-PURCHASE CONVERSION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841248"/>
            <a:ext cx="10881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Wishlist saves rarely become purchases — here's the metric, and how we broke it down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metric: % of users who purchase at least one wishlisted item within 30 days of adding it.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974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13232" y="2697480"/>
            <a:ext cx="1728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2697480"/>
            <a:ext cx="201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697480" y="26974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6E4A5B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70632" y="2697480"/>
            <a:ext cx="1728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Availability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697480"/>
            <a:ext cx="201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754880" y="26974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28032" y="2697480"/>
            <a:ext cx="1728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Re-encounter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629400" y="2697480"/>
            <a:ext cx="201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812280" y="26974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6E4A5B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85432" y="2697480"/>
            <a:ext cx="1728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686800" y="2697480"/>
            <a:ext cx="2011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869680" y="2697480"/>
            <a:ext cx="1874520" cy="1005840"/>
          </a:xfrm>
          <a:prstGeom prst="roundRect">
            <a:avLst>
              <a:gd name="adj" fmla="val 7273"/>
            </a:avLst>
          </a:prstGeom>
          <a:solidFill>
            <a:srgbClr val="5B3A4A"/>
          </a:solidFill>
          <a:ln w="6350">
            <a:solidFill>
              <a:srgbClr val="6E4A5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942832" y="2697480"/>
            <a:ext cx="172821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Checkout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3931920"/>
            <a:ext cx="10104120" cy="548640"/>
          </a:xfrm>
          <a:prstGeom prst="roundRect">
            <a:avLst>
              <a:gd name="adj" fmla="val 13333"/>
            </a:avLst>
          </a:prstGeom>
          <a:solidFill>
            <a:srgbClr val="6E4A5B"/>
          </a:solidFill>
          <a:ln w="12700">
            <a:solidFill>
              <a:srgbClr val="B5822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3931920"/>
            <a:ext cx="9646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9DF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Price-Certainty — a soft hesitation factor that modulates Resolution, not a hard sequential gate like Availability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40080" y="4709160"/>
            <a:ext cx="1088136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914400" y="4846320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no-money constraint (no discounts, no incentives) rules out most price levers directly — pushing the real addressable opportunity toward Intent, Re-encounter, and Resolution. That narrowing is derived from this decomposition, not assumed going in.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" y="53492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follows: AI discovery → primary research → one defined problem → a working MVP, measured against real success metrics.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discovery engine — architecture and what it found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71600" y="1508760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7160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94944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Scrape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2395728" y="1417320"/>
            <a:ext cx="146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523744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55264" y="1508760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255264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578608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279392" y="1417320"/>
            <a:ext cx="146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407408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138928" y="1508760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138928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462272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Pre-filter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(noise cut)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163056" y="1417320"/>
            <a:ext cx="146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291072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22592" y="150876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022592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45936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 Set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n=137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46720" y="1417320"/>
            <a:ext cx="146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8174736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06256" y="1508760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906256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8229600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Agent</a:t>
            </a:r>
            <a:endParaRPr lang="en-US" sz="140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(Groq)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9930384" y="1417320"/>
            <a:ext cx="146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10058400" y="1417320"/>
            <a:ext cx="1755648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0789920" y="1508760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789920" y="15087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10113264" y="1856232"/>
            <a:ext cx="1645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640080" y="2423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("pre-filter") is a small, cheap relevance-only pass that screens 2,203 raw reviews down to what's actually pre-purchase-hesitation signal, before the fuller 9-category classifier ever runs on it — separating real signal from app-review noise (delivery complaints, generic praise) early and cheaply.</a:t>
            </a:r>
            <a:endParaRPr lang="en-US" sz="1400" dirty="0"/>
          </a:p>
        </p:txBody>
      </p:sp>
      <p:graphicFrame>
        <p:nvGraphicFramePr>
          <p:cNvPr id="33" name="Chart 0" descr=""/>
          <p:cNvGraphicFramePr/>
          <p:nvPr/>
        </p:nvGraphicFramePr>
        <p:xfrm>
          <a:off x="640080" y="2971800"/>
          <a:ext cx="6035040" cy="3063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34" name="Shape 31"/>
          <p:cNvSpPr/>
          <p:nvPr/>
        </p:nvSpPr>
        <p:spPr>
          <a:xfrm>
            <a:off x="6903720" y="297180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5B3A4A"/>
          </a:solidFill>
          <a:ln/>
        </p:spPr>
      </p:sp>
      <p:sp>
        <p:nvSpPr>
          <p:cNvPr id="35" name="Text 32"/>
          <p:cNvSpPr txBox="1"/>
          <p:nvPr/>
        </p:nvSpPr>
        <p:spPr>
          <a:xfrm>
            <a:off x="7086600" y="3063240"/>
            <a:ext cx="4251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2,203 classified · n=137 gold set · 89.4% agreement</a:t>
            </a:r>
            <a:endParaRPr lang="en-US" sz="1400" dirty="0"/>
          </a:p>
        </p:txBody>
      </p:sp>
      <p:sp>
        <p:nvSpPr>
          <p:cNvPr id="36" name="Shape 33"/>
          <p:cNvSpPr/>
          <p:nvPr/>
        </p:nvSpPr>
        <p:spPr>
          <a:xfrm>
            <a:off x="6903720" y="4023360"/>
            <a:ext cx="46177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7086600" y="411480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0.875 accuracy vs. human labels</a:t>
            </a:r>
            <a:endParaRPr lang="en-US" sz="1500" dirty="0"/>
          </a:p>
        </p:txBody>
      </p:sp>
      <p:sp>
        <p:nvSpPr>
          <p:cNvPr id="38" name="Text 35"/>
          <p:cNvSpPr txBox="1"/>
          <p:nvPr/>
        </p:nvSpPr>
        <p:spPr>
          <a:xfrm>
            <a:off x="7086600" y="443484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κ=0.159 cross-model agreement — a weaker local model, not a codebook problem</a:t>
            </a:r>
            <a:endParaRPr lang="en-US" sz="1400" dirty="0"/>
          </a:p>
        </p:txBody>
      </p:sp>
      <p:sp>
        <p:nvSpPr>
          <p:cNvPr id="39" name="Shape 36"/>
          <p:cNvSpPr/>
          <p:nvPr/>
        </p:nvSpPr>
        <p:spPr>
          <a:xfrm>
            <a:off x="6903720" y="5074920"/>
            <a:ext cx="4617720" cy="960120"/>
          </a:xfrm>
          <a:prstGeom prst="roundRect">
            <a:avLst>
              <a:gd name="adj" fmla="val 7619"/>
            </a:avLst>
          </a:prstGeom>
          <a:solidFill>
            <a:srgbClr val="EFE6D8"/>
          </a:solidFill>
          <a:ln/>
        </p:spPr>
      </p:sp>
      <p:sp>
        <p:nvSpPr>
          <p:cNvPr id="40" name="Text 37"/>
          <p:cNvSpPr txBox="1"/>
          <p:nvPr/>
        </p:nvSpPr>
        <p:spPr>
          <a:xfrm>
            <a:off x="7086600" y="5166360"/>
            <a:ext cx="4251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i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categories never appeared in reviews at all — not rare, just the wrong instrument. Primary research picks up where the corpus stops.</a:t>
            </a:r>
            <a:endParaRPr lang="en-US" sz="1400" dirty="0"/>
          </a:p>
        </p:txBody>
      </p:sp>
      <p:sp>
        <p:nvSpPr>
          <p:cNvPr id="41" name="Text 3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42" name="Text 39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the discovery engine yourself — two live ways in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57800" cy="466344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4B6B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1848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DIRECT API CALL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98424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any short review/comment text; get back is_relevant, primary_barrier, confidence, and 2 optional fields — a real classification call, not a demo stub.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2880360"/>
            <a:ext cx="4709160" cy="1188720"/>
          </a:xfrm>
          <a:prstGeom prst="roundRect">
            <a:avLst>
              <a:gd name="adj" fmla="val 4615"/>
            </a:avLst>
          </a:prstGeom>
          <a:solidFill>
            <a:srgbClr val="F0EAE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24128" y="2971800"/>
            <a:ext cx="448970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-X POST \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$WEBHOOK_URL \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-d '{"text":"waiting for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the price to drop"}'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420624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WEBHOOK   </a:t>
            </a:r>
            <a:pPr indent="0" marL="0">
              <a:buNone/>
            </a:pPr>
            <a:r>
              <a:rPr lang="en-US" sz="1400" u="sng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…/wishlist-discovery-engine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663440"/>
            <a:ext cx="4709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two categories beyond the original 7 — social_validation and comparison_shopping (v3, </a:t>
            </a:r>
            <a:pPr indent="0" marL="0">
              <a:lnSpc>
                <a:spcPct val="115000"/>
              </a:lnSpc>
              <a:buNone/>
            </a:pPr>
            <a:r>
              <a:rPr lang="en-US" sz="1400" i="1" u="sng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docs/codebook.md</a:t>
            </a:r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— closing a real gap against the brief's own question list. Neither has corpus data yet; reported honestly, not silently implied.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1417320"/>
            <a:ext cx="5257800" cy="466344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15875">
            <a:solidFill>
              <a:srgbClr val="B5822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161848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INTERACTIVE DEMO (STREAMLIT)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984248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page over the same live webhook, with three panels: real corpus stats, real interview quote cards, and the metric framework — no chatbot, no fabricated numbers.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92608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Corpus at a glance — 2,203 classified, n=137 gold set, 0.875 accuracy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47472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6 real interview quotes with sourced "what this means" notes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402336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Paste your own text and classify it live, or try a gold-set example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537960" y="4754880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  </a:t>
            </a:r>
            <a:pPr indent="0" marL="0">
              <a:buNone/>
            </a:pPr>
            <a:r>
              <a:rPr lang="en-US" sz="1400" u="sng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nl-myntra-graduation-project…streamlit.app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Primary research confirmed what reviews structurally couldn't show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525780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52704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— n = 32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1168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94% (30/32) research outside the app before deciding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578608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100% (32/32) have had a saved item go out of stock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145536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Price uncertainty is the #1 reason not bought (9/32)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3712464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19/32 "trust but would double-check" size predictions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4462272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SURVEY   </a:t>
            </a:r>
            <a:pPr indent="0" marL="0">
              <a:buNone/>
            </a:pPr>
            <a:r>
              <a:rPr lang="en-US" sz="1400" u="sng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 Form (n=32)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263640" y="1325880"/>
            <a:ext cx="5257800" cy="429768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1527048"/>
            <a:ext cx="4709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INTERVIEWS — 6 people, 2 waves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1920240"/>
            <a:ext cx="4709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“If it was 1,200 I probably would've bought it then and there.”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2651760"/>
            <a:ext cx="4709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P1, on a saved pair of jeans, waiting for a specific price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3063240"/>
            <a:ext cx="4709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corpus-sparse category (fit, price, occasion, timing) was independently confirmed real here. 6/6 raised availability decay unprompted — the single most unanimous finding in the project.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537960" y="4023360"/>
            <a:ext cx="47091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run as originally planned: the brief asks to pick one segment, then validate it with 5–6 targeted interviews. These stayed exploratory across barriers instead, because no single segment was chosen going in — disclosed plainly, not smoothed over.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relevance pre-filter (slide 2, step 3) is what made this corpus usable at all — a cheap engine built specifically to pick real pre-purchase signal out of a much noisier raw pull of app-store reviews, before any deeper classification or gold-set labeling happened.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thinking evolved, one link at a time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581912"/>
            <a:ext cx="2468880" cy="493776"/>
          </a:xfrm>
          <a:prstGeom prst="roundRect">
            <a:avLst>
              <a:gd name="adj" fmla="val 14815"/>
            </a:avLst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58191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METRIC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703320" y="146304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within 30 days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828800" y="214884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28600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404872"/>
            <a:ext cx="2468880" cy="493776"/>
          </a:xfrm>
          <a:prstGeom prst="roundRect">
            <a:avLst>
              <a:gd name="adj" fmla="val 14815"/>
            </a:avLst>
          </a:prstGeom>
          <a:solidFill>
            <a:srgbClr val="6E4A5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240487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OUTCOMES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703320" y="228600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× Availability × Re-encounter × Resolution × Checkout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297180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10896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3227832"/>
            <a:ext cx="2468880" cy="493776"/>
          </a:xfrm>
          <a:prstGeom prst="roundRect">
            <a:avLst>
              <a:gd name="adj" fmla="val 14815"/>
            </a:avLst>
          </a:prstGeom>
          <a:solidFill>
            <a:srgbClr val="B5822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322783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DISCOVERY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310896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categories corpus-visible; 5 corpus-blind — a finding, not a dead end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1828800" y="379476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93192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4050792"/>
            <a:ext cx="2468880" cy="493776"/>
          </a:xfrm>
          <a:prstGeom prst="roundRect">
            <a:avLst>
              <a:gd name="adj" fmla="val 14815"/>
            </a:avLst>
          </a:prstGeom>
          <a:solidFill>
            <a:srgbClr val="4B6B4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405079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RESEARCH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3703320" y="393192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 corpus-blind barriers confirmed real via survey + interviews</a:t>
            </a:r>
            <a:endParaRPr lang="en-US" sz="1450" dirty="0"/>
          </a:p>
        </p:txBody>
      </p:sp>
      <p:sp>
        <p:nvSpPr>
          <p:cNvPr id="22" name="Text 20"/>
          <p:cNvSpPr txBox="1"/>
          <p:nvPr/>
        </p:nvSpPr>
        <p:spPr>
          <a:xfrm>
            <a:off x="1828800" y="4617720"/>
            <a:ext cx="365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40080" y="4754880"/>
            <a:ext cx="1088136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4873752"/>
            <a:ext cx="2468880" cy="493776"/>
          </a:xfrm>
          <a:prstGeom prst="roundRect">
            <a:avLst>
              <a:gd name="adj" fmla="val 14815"/>
            </a:avLst>
          </a:prstGeom>
          <a:solidFill>
            <a:srgbClr val="C97B7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868680" y="4873752"/>
            <a:ext cx="22860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DEFINITION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3703320" y="4754880"/>
            <a:ext cx="7818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segment chosen, evidenced end to end (next slide)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56235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chain, in writing: </a:t>
            </a:r>
            <a:pPr indent="0" marL="0">
              <a:buNone/>
            </a:pPr>
            <a:r>
              <a:rPr lang="en-US" sz="1400" i="1" u="sng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docs/decisions/problem-definition.md</a:t>
            </a:r>
            <a:pPr indent="0" marL="0"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every link traces to a file already in this repo, not a narrative built after the fact.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problem: Price-Timing Waiters can't tell if waiting is rational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41248" y="160020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92024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Price-Timing Waiters — save an item they like, deliberately wait for a self-set price target before buying. Largest gold-set count (11) and largest survey reason (9/32).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776472" y="1572768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3776472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279392" y="146304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480560" y="160020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OUTCOME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4480560" y="192024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— getting a user's price uncertainty answered with real evidence, inside the 30-day window, before the item decays or intent fades.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415784" y="1572768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15784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918704" y="146304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19872" y="160020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119872" y="192024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wishlist shows one current price and nothing else. No trend, no history — so a user has no way to tell if waiting is rational or just habit.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11055096" y="1572768"/>
            <a:ext cx="292608" cy="292608"/>
          </a:xfrm>
          <a:prstGeom prst="ellipse">
            <a:avLst/>
          </a:prstGeom>
          <a:solidFill>
            <a:srgbClr val="4B6B4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1055096" y="15727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356616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1248" y="370332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WORKAROUND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41248" y="402336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94% of survey respondents already leave the app to research before deciding — a real, quantified workaround the product doesn't need to invent, only bring in-app.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3776472" y="3675888"/>
            <a:ext cx="292608" cy="292608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3776472" y="3675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279392" y="356616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480560" y="370332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VALUE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480560" y="402336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Removes a repeated, manual, cross-platform research chore for a decision the user has already shown real intent toward — less regret, less re-research effort.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415784" y="3675888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415784" y="3675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7918704" y="3566160"/>
            <a:ext cx="350215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119872" y="3703320"/>
            <a:ext cx="2907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VALUE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8119872" y="4023360"/>
            <a:ext cx="309981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demand already on the platform, already explicit (a saved item), at no acquisition cost — the only failure mode is a stalled decision, not a missing customer.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1055096" y="3675888"/>
            <a:ext cx="292608" cy="292608"/>
          </a:xfrm>
          <a:prstGeom prst="ellipse">
            <a:avLst/>
          </a:prstGeom>
          <a:solidFill>
            <a:srgbClr val="4B6B4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11055096" y="36758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for being most fully evidenced and buildable — not for being the only real barrier. quality_trust, fit_size, and availability_decay are each independently confirmed too (</a:t>
            </a:r>
            <a:pPr indent="0" marL="0">
              <a:lnSpc>
                <a:spcPct val="110000"/>
              </a:lnSpc>
              <a:buNone/>
            </a:pPr>
            <a:r>
              <a:rPr lang="en-US" sz="1400" i="1" u="sng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docs/decisions/opportunity-selection.md</a:t>
            </a:r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); availability_decay has the strongest cross-method triangulation of all four (6/6 interviews, 32/32 survey).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rationale: a Discovery Concierge, not a discount engine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4173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Constraint honored: no monetary incentives — every nudge resolves real uncertainty. None manufacture urgency or offer a discount.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290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107692" y="2194560"/>
            <a:ext cx="493776" cy="493776"/>
          </a:xfrm>
          <a:prstGeom prst="ellipse">
            <a:avLst/>
          </a:prstGeom>
          <a:solidFill>
            <a:srgbClr val="5B3A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2107692" y="2194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620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Evidence-backed reasoning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341071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recommendation traces to a real theme, a real review, or a real interview finding — never a generic “picked for you.”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51960" y="1965960"/>
            <a:ext cx="34290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5719572" y="2194560"/>
            <a:ext cx="493776" cy="493776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719572" y="2194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8620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confidence states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0" y="341071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/ Medium / Insufficient-evidence, always icon + color + label together — confidence is shown, never implied by color alone.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863840" y="1965960"/>
            <a:ext cx="3429000" cy="2606040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331452" y="2194560"/>
            <a:ext cx="493776" cy="493776"/>
          </a:xfrm>
          <a:prstGeom prst="ellipse">
            <a:avLst/>
          </a:prstGeom>
          <a:solidFill>
            <a:srgbClr val="4B6B4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331452" y="2194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6F1E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286207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manufactured urgency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3410712"/>
            <a:ext cx="2788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4A43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if I wait” tells the truth — a real scarcity fact, or an honest “nothing changes.” Never a fake countdown.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40080" y="4754880"/>
            <a:ext cx="10881360" cy="1051560"/>
          </a:xfrm>
          <a:prstGeom prst="roundRect">
            <a:avLst>
              <a:gd name="adj" fmla="val 6957"/>
            </a:avLst>
          </a:prstGeom>
          <a:solidFill>
            <a:srgbClr val="EFE6D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" y="4864608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design, not a chatbot or a discount banner — 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root cause (slide 6) is missing evidence, not missing motivation or missing conversation. A price-history strip and an honest "if you wait" answer directly fix a visibility gap; a chat interface or a coupon would each address a different problem this research didn't find.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MVP walkthrough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406640" y="457200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4B6B4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543800" y="45720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MVP  </a:t>
            </a:r>
            <a:pPr indent="0" marL="0">
              <a:buNone/>
            </a:pPr>
            <a:r>
              <a:rPr lang="en-US" sz="1400" u="sng" dirty="0">
                <a:solidFill>
                  <a:srgbClr val="211D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mvp-henna-delta.vercel.app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606144" y="1088136"/>
            <a:ext cx="2121408" cy="2807208"/>
          </a:xfrm>
          <a:prstGeom prst="roundRect">
            <a:avLst>
              <a:gd name="adj" fmla="val 6034"/>
            </a:avLst>
          </a:prstGeom>
          <a:solidFill>
            <a:srgbClr val="211D1B"/>
          </a:solidFill>
          <a:ln/>
        </p:spPr>
      </p:sp>
      <p:pic>
        <p:nvPicPr>
          <p:cNvPr id="6" name="Image 0" descr="C:\Users\sanka\Documents\Projects\NL-Myntra Graduation Project\docs\deck-assets\01-persona-picker-expan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661008" y="1143000"/>
            <a:ext cx="2011680" cy="2697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32408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 Picker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672688" y="1143000"/>
            <a:ext cx="2743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892144" y="1088136"/>
            <a:ext cx="2121408" cy="2807208"/>
          </a:xfrm>
          <a:prstGeom prst="roundRect">
            <a:avLst>
              <a:gd name="adj" fmla="val 6034"/>
            </a:avLst>
          </a:prstGeom>
          <a:solidFill>
            <a:srgbClr val="211D1B"/>
          </a:solidFill>
          <a:ln/>
        </p:spPr>
      </p:sp>
      <p:pic>
        <p:nvPicPr>
          <p:cNvPr id="10" name="Image 1" descr="C:\Users\sanka\Documents\Projects\NL-Myntra Graduation Project\docs\deck-assets\02-wishlist-intelligenc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947008" y="1143000"/>
            <a:ext cx="2011680" cy="26974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718408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Intelligence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5958688" y="1143000"/>
            <a:ext cx="2743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178144" y="1088136"/>
            <a:ext cx="2121408" cy="2807208"/>
          </a:xfrm>
          <a:prstGeom prst="roundRect">
            <a:avLst>
              <a:gd name="adj" fmla="val 6034"/>
            </a:avLst>
          </a:prstGeom>
          <a:solidFill>
            <a:srgbClr val="211D1B"/>
          </a:solidFill>
          <a:ln/>
        </p:spPr>
      </p:sp>
      <p:pic>
        <p:nvPicPr>
          <p:cNvPr id="14" name="Image 2" descr="C:\Users\sanka\Documents\Projects\NL-Myntra Graduation Project\docs\deck-assets\03-item-detail-price-box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233008" y="1143000"/>
            <a:ext cx="2011680" cy="269748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004408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Detail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244688" y="1143000"/>
            <a:ext cx="2743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8464144" y="1088136"/>
            <a:ext cx="2121408" cy="2807208"/>
          </a:xfrm>
          <a:prstGeom prst="roundRect">
            <a:avLst>
              <a:gd name="adj" fmla="val 6034"/>
            </a:avLst>
          </a:prstGeom>
          <a:solidFill>
            <a:srgbClr val="211D1B"/>
          </a:solidFill>
          <a:ln/>
        </p:spPr>
      </p:sp>
      <p:pic>
        <p:nvPicPr>
          <p:cNvPr id="18" name="Image 3" descr="C:\Users\sanka\Documents\Projects\NL-Myntra Graduation Project\docs\deck-assets\04-decision-check-open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519008" y="1143000"/>
            <a:ext cx="2011680" cy="269748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290408" y="393192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Check</a:t>
            </a:r>
            <a:endParaRPr lang="en-US" sz="1400" dirty="0"/>
          </a:p>
        </p:txBody>
      </p:sp>
      <p:sp>
        <p:nvSpPr>
          <p:cNvPr id="20" name="Shape 14"/>
          <p:cNvSpPr/>
          <p:nvPr/>
        </p:nvSpPr>
        <p:spPr>
          <a:xfrm>
            <a:off x="640080" y="4389120"/>
            <a:ext cx="10881360" cy="1600200"/>
          </a:xfrm>
          <a:prstGeom prst="roundRect">
            <a:avLst>
              <a:gd name="adj" fmla="val 4571"/>
            </a:avLst>
          </a:prstGeom>
          <a:solidFill>
            <a:srgbClr val="EFE6D8"/>
          </a:solidFill>
          <a:ln/>
        </p:spPr>
      </p:sp>
      <p:sp>
        <p:nvSpPr>
          <p:cNvPr id="21" name="Text 15"/>
          <p:cNvSpPr txBox="1"/>
          <p:nvPr/>
        </p:nvSpPr>
        <p:spPr>
          <a:xfrm>
            <a:off x="914400" y="4517136"/>
            <a:ext cx="10332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FLAGSHIP CASE — WIDE-LEG JEANS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914400" y="4809744"/>
            <a:ext cx="10332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“If it was 1,200 I probably would've bought it then and there.” — the real interview quote (slide 4) directly powers this item's price-history box and Decision Check reasoning. Traced end to end from problem definition to pixel, not a plausible-sounding guess.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914400" y="5330952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shown live today: real category filter chips, an honest "Holding steady" bucket for settled-but-thin-evidence items, and "Tracking a partial move" for items with a real, quantified price drop that hasn't hit target yet — three separate, verified fixes so the UI never contradicts its own data.</a:t>
            </a:r>
            <a:endParaRPr lang="en-US" sz="140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means saves that convert, not saves that pile up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91640"/>
            <a:ext cx="2103120" cy="960120"/>
          </a:xfrm>
          <a:prstGeom prst="roundRect">
            <a:avLst>
              <a:gd name="adj" fmla="val 7619"/>
            </a:avLst>
          </a:prstGeom>
          <a:solidFill>
            <a:srgbClr val="5B3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spc="50" kern="0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NORTH STAR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16916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Wishlist-to-Purchase, Within 30 Days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3474720" y="21488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business metric this whole project decomposes and targets (slide 1). Unchanged.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92608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063240"/>
            <a:ext cx="2103120" cy="960120"/>
          </a:xfrm>
          <a:prstGeom prst="roundRect">
            <a:avLst>
              <a:gd name="adj" fmla="val 7619"/>
            </a:avLst>
          </a:prstGeom>
          <a:solidFill>
            <a:srgbClr val="B5822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" y="306324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spc="50" kern="0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MVP LEADING INDICATORS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74720" y="3063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Trace-widget open rate · Trace-to-cart conversion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3474720" y="35204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reasoning get read — and does resolving uncertainty actually lead to action?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4297680"/>
            <a:ext cx="10881360" cy="1234440"/>
          </a:xfrm>
          <a:prstGeom prst="roundRect">
            <a:avLst>
              <a:gd name="adj" fmla="val 5926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434840"/>
            <a:ext cx="2103120" cy="960120"/>
          </a:xfrm>
          <a:prstGeom prst="roundRect">
            <a:avLst>
              <a:gd name="adj" fmla="val 7619"/>
            </a:avLst>
          </a:prstGeom>
          <a:solidFill>
            <a:srgbClr val="4B6B4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68680" y="4434840"/>
            <a:ext cx="1920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spc="50" kern="0" dirty="0">
                <a:solidFill>
                  <a:srgbClr val="F6F1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GUARDRAIL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44348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False-urgency rate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4892040"/>
            <a:ext cx="8046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6B62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if I wait” shown where stock/price didn't actually change afterward. Designed in from day one, not added for this slide.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i="1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number is claimed as currently measured that isn't — the MVP is not yet wired to a live event pipeline for these three. They are the defined, agreed targets this project's architecture is built to support, not a retrospective result.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1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57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2800" b="1" dirty="0">
                <a:solidFill>
                  <a:srgbClr val="211D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could go wrong, and what we're doing about it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5636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Local-model consistency is weak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94767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ever wired to live inference, inconsistent classification could show contradictory reasoning to the same user across visits — undermining trust in Decision Check specifically, not just a data-quality footnote.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78892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Production path uses the stronger hosted model with retry-escalation; local is a documented fallback only.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0" y="155448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41732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156362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mechanism brings users back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194767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names Re-encounter as a decomposition factor, but this MVP has zero feature addressing it — no notification, no reminder, nothing that resurfaces a saved item.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78892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Explicitly out of scope for this MVP — named here as the single most important next-build priority, not hidden.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11109960" y="155448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109960" y="1554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374904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38953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 "nothing changes" could kill urgency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27939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mirror image of the false-urgency guardrail (slide 9): if the tool is too passive, it could resolve uncertainty without ever prompting action at all.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" y="51206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The existing trace-to-cart conversion leading indicator is designed to catch exactly this — high trace-opens with low cart-adds is the signal.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0" y="388620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263640" y="3749040"/>
            <a:ext cx="52578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12700">
            <a:solidFill>
              <a:srgbClr val="E3D9C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537960" y="3895344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B3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framing could feel like friction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537960" y="4279392"/>
            <a:ext cx="4709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A3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who just want a fast decision may experience Decision Check's confidence/evidence framing as an added analysis step, not a shortcut.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537960" y="5120640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B6B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MITIGATION:  "Move to cart" stays the primary, always-visible path; Decision Check is opt-in/expandable, never a blocker.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11109960" y="3886200"/>
            <a:ext cx="292608" cy="292608"/>
          </a:xfrm>
          <a:prstGeom prst="ellipse">
            <a:avLst/>
          </a:prstGeom>
          <a:solidFill>
            <a:srgbClr val="B5822A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1109960" y="38862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6126480"/>
            <a:ext cx="10515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" kern="0" dirty="0">
                <a:solidFill>
                  <a:srgbClr val="B582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REPO &amp; RESEARCH TRAIL   </a:t>
            </a:r>
            <a:pPr indent="0" marL="0">
              <a:buNone/>
            </a:pPr>
            <a:r>
              <a:rPr lang="en-US" sz="1400" u="sng" dirty="0">
                <a:solidFill>
                  <a:srgbClr val="211D1B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github.com/blazing-llama/NL-Myntra-Graduation-Project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6492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Wishlist → Purchase Conversion  |  NL Myntra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11368735" y="649224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A80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2026-09-05T05:19:12Z</dcterms:created>
  <dcterms:modified xsi:type="dcterms:W3CDTF">2026-09-05T05:19:12Z</dcterms:modified>
</cp:coreProperties>
</file>