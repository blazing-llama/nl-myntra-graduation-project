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11D1B"/>
                </a:solidFill>
                <a:latin typeface="Arial"/>
              </a:defRPr>
            </a:pPr>
            <a:r>
              <a:rPr sz="1400" b="0" i="0" u="none" strike="noStrike">
                <a:solidFill>
                  <a:srgbClr val="211D1B"/>
                </a:solidFill>
                <a:latin typeface="Arial"/>
              </a:rPr>
              <a:t>Barrier categories found (frozen gold set, n=137)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Gold-set count</c:v>
                </c:pt>
              </c:strCache>
            </c:strRef>
          </c:tx>
          <c:spPr>
            <a:solidFill>
              <a:srgbClr val="5B3A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11D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price_certainty</c:v>
                  </c:pt>
                  <c:pt idx="1">
                    <c:v>quality_trust</c:v>
                  </c:pt>
                  <c:pt idx="2">
                    <c:v>fit_size</c:v>
                  </c:pt>
                  <c:pt idx="3">
                    <c:v>availability_decay</c:v>
                  </c:pt>
                  <c:pt idx="4">
                    <c:v>occasion_styling</c:v>
                  </c:pt>
                  <c:pt idx="5">
                    <c:v>timing_forgetting</c:v>
                  </c:pt>
                  <c:pt idx="6">
                    <c:v>bookmark_not_intent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</c:v>
                </c:pt>
                <c:pt idx="1">
                  <c:v>7</c:v>
                </c:pt>
                <c:pt idx="2">
                  <c:v>6</c:v>
                </c:pt>
                <c:pt idx="3">
                  <c:v>5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211D1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A43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6F1EA"/>
        </a:solidFill>
        <a:ln>
          <a:noFill/>
        </a:ln>
        <a:effectLst/>
      </c:spPr>
    </c:plotArea>
    <c:plotVisOnly val="1"/>
    <c:dispBlanksAs val="span"/>
  </c:chart>
  <c:spPr>
    <a:solidFill>
      <a:srgbClr val="F6F1E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zeusworkspace1.app.n8n.cloud/webhook/wishlist-discovery-engine" TargetMode="External"/><Relationship Id="rId2" Type="http://schemas.openxmlformats.org/officeDocument/2006/relationships/hyperlink" Target="https://nl-myntra-graduation-project-naspi2s3gtajwsv79uwe8w.streamlit.app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forms/d/e/1FAIpQLScsU5OcvTbEetugF0pG-ek2eo_8VEz1DLEjX0gMDsydgOHizA/viewfor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hyperlink" Target="https://mvp-henna-delta.vercel.app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blazing-llama/NL-Myntra-Graduation-Projec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1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· GROWTH · WISHLIST-TO-PURCHASE CONVERSION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Wishlist saves rarely become purchases — here's the metric, and how we broke it down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metric: % of users who purchase at least one wishlisted item within 30 days of adding 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1874520" cy="1005840"/>
          </a:xfrm>
          <a:prstGeom prst="roundRect">
            <a:avLst>
              <a:gd name="adj" fmla="val 7273"/>
            </a:avLst>
          </a:prstGeom>
          <a:solidFill>
            <a:srgbClr val="5B3A4A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2697480"/>
            <a:ext cx="17282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2697480"/>
            <a:ext cx="201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697480" y="2697480"/>
            <a:ext cx="1874520" cy="1005840"/>
          </a:xfrm>
          <a:prstGeom prst="roundRect">
            <a:avLst>
              <a:gd name="adj" fmla="val 7273"/>
            </a:avLst>
          </a:prstGeom>
          <a:solidFill>
            <a:srgbClr val="6E4A5B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70632" y="2697480"/>
            <a:ext cx="17282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697480"/>
            <a:ext cx="201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754880" y="2697480"/>
            <a:ext cx="1874520" cy="1005840"/>
          </a:xfrm>
          <a:prstGeom prst="roundRect">
            <a:avLst>
              <a:gd name="adj" fmla="val 7273"/>
            </a:avLst>
          </a:prstGeom>
          <a:solidFill>
            <a:srgbClr val="5B3A4A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28032" y="2697480"/>
            <a:ext cx="17282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Re-encounter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697480"/>
            <a:ext cx="201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12280" y="2697480"/>
            <a:ext cx="1874520" cy="1005840"/>
          </a:xfrm>
          <a:prstGeom prst="roundRect">
            <a:avLst>
              <a:gd name="adj" fmla="val 7273"/>
            </a:avLst>
          </a:prstGeom>
          <a:solidFill>
            <a:srgbClr val="6E4A5B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85432" y="2697480"/>
            <a:ext cx="17282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2697480"/>
            <a:ext cx="201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869680" y="2697480"/>
            <a:ext cx="1874520" cy="1005840"/>
          </a:xfrm>
          <a:prstGeom prst="roundRect">
            <a:avLst>
              <a:gd name="adj" fmla="val 7273"/>
            </a:avLst>
          </a:prstGeom>
          <a:solidFill>
            <a:srgbClr val="5B3A4A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42832" y="2697480"/>
            <a:ext cx="17282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3931920"/>
            <a:ext cx="10104120" cy="548640"/>
          </a:xfrm>
          <a:prstGeom prst="roundRect">
            <a:avLst>
              <a:gd name="adj" fmla="val 13333"/>
            </a:avLst>
          </a:prstGeom>
          <a:solidFill>
            <a:srgbClr val="6E4A5B"/>
          </a:solidFill>
          <a:ln w="12700">
            <a:solidFill>
              <a:srgbClr val="B582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3931920"/>
            <a:ext cx="964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Price-Certainty — a soft hesitation factor that modulates Resolution, not a hard sequential gate like Availability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470916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2C2622"/>
          </a:solidFill>
          <a:ln w="12700">
            <a:solidFill>
              <a:srgbClr val="463D3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4846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9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no-money constraint (no discounts, no incentives) rules out most price levers directly — pushing the real addressable opportunity toward Intent, Re-encounter, and Resolution. That narrowing is derived from this decomposition, not assumed going in.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53492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follows: AI discovery → primary research → one defined problem → a working MVP, measured against real success metrics.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discovery engine — architecture and what it found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17556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1508760"/>
            <a:ext cx="292608" cy="292608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7160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85623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395728" y="1417320"/>
            <a:ext cx="146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523744" y="1417320"/>
            <a:ext cx="17556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55264" y="1508760"/>
            <a:ext cx="292608" cy="292608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55264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578608" y="185623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279392" y="1417320"/>
            <a:ext cx="146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407408" y="1417320"/>
            <a:ext cx="17556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38928" y="1508760"/>
            <a:ext cx="292608" cy="292608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138928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462272" y="185623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Pre-filter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(noise cut)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417320"/>
            <a:ext cx="146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291072" y="1417320"/>
            <a:ext cx="17556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22592" y="1508760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022592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345936" y="185623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Set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n=137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046720" y="1417320"/>
            <a:ext cx="146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174736" y="1417320"/>
            <a:ext cx="17556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06256" y="1508760"/>
            <a:ext cx="292608" cy="292608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906256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185623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Agent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(Groq)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930384" y="1417320"/>
            <a:ext cx="146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10058400" y="1417320"/>
            <a:ext cx="17556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789920" y="1508760"/>
            <a:ext cx="292608" cy="292608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78992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0113264" y="185623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2423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("pre-filter") is a small, cheap relevance-only pass that screens 2,203 raw reviews down to what's actually pre-purchase-hesitation signal, before the fuller 9-category classifier ever runs on it — separating real signal from app-review noise (delivery complaints, generic praise) early and cheaply.</a:t>
            </a:r>
            <a:endParaRPr lang="en-US" sz="1400" dirty="0"/>
          </a:p>
        </p:txBody>
      </p:sp>
      <p:graphicFrame>
        <p:nvGraphicFramePr>
          <p:cNvPr id="33" name="Chart 0" descr=""/>
          <p:cNvGraphicFramePr/>
          <p:nvPr/>
        </p:nvGraphicFramePr>
        <p:xfrm>
          <a:off x="640080" y="2971800"/>
          <a:ext cx="603504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4" name="Shape 31"/>
          <p:cNvSpPr/>
          <p:nvPr/>
        </p:nvSpPr>
        <p:spPr>
          <a:xfrm>
            <a:off x="6903720" y="297180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5B3A4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086600" y="3063240"/>
            <a:ext cx="4251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2,203 classified · n=137 gold set · 89.4% agreement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903720" y="402336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086600" y="411480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0.875 accuracy vs. human labels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7086600" y="443484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κ=0.159 cross-model agreement — a weaker local model, not a codebook problem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903720" y="5074920"/>
            <a:ext cx="4617720" cy="960120"/>
          </a:xfrm>
          <a:prstGeom prst="roundRect">
            <a:avLst>
              <a:gd name="adj" fmla="val 7619"/>
            </a:avLst>
          </a:prstGeom>
          <a:solidFill>
            <a:srgbClr val="EFE6D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7086600" y="5166360"/>
            <a:ext cx="4251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i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categories never appeared in reviews at all — not rare, just the wrong instrument. Primary research picks up where the corpus stops.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the discovery engine yourself — two live ways in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257800" cy="466344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4B6B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1848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DIRECT API CALL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98424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any short review/comment text; get back is_relevant, primary_barrier, confidence, and 2 optional fields — a real classification call, not a demo stub.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2880360"/>
            <a:ext cx="4709160" cy="1188720"/>
          </a:xfrm>
          <a:prstGeom prst="roundRect">
            <a:avLst>
              <a:gd name="adj" fmla="val 4615"/>
            </a:avLst>
          </a:prstGeom>
          <a:solidFill>
            <a:srgbClr val="F0EAE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24128" y="2971800"/>
            <a:ext cx="44897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 POST \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$WEBHOOK_URL \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-d '{"text":"waiting for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price to drop"}'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0624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  </a:t>
            </a:r>
            <a:pPr indent="0" marL="0">
              <a:buNone/>
            </a:pPr>
            <a:r>
              <a:rPr lang="en-US" sz="1400" u="sng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…/wishlist-discovery-engine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66344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two categories beyond the original 7 — social_validation and comparison_shopping (v3, docs/codebook.md) — closing a real gap against the brief's own question list. Neither has corpus data yet; reported honestly, not silently implied.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1417320"/>
            <a:ext cx="5257800" cy="466344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B582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161848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INTERACTIVE DEMO (STREAMLIT)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98424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page over the same live webhook, with three panels: real corpus stats, real interview quote cards, and the metric framework — no chatbot, no fabricated numbers.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92608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Corpus at a glance — 2,203 classified, n=137 gold set, 0.875 accuracy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47472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6 real interview quotes with sourced "what this means" notes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402336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Paste your own text and classify it live, or try a gold-set example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475488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 </a:t>
            </a:r>
            <a:pPr indent="0" marL="0">
              <a:buNone/>
            </a:pPr>
            <a:r>
              <a:rPr lang="en-US" sz="1400" u="sng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nl-myntra-graduation-project…streamlit.app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Primary research confirmed what reviews structurally couldn't show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25780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52704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— n = 32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1168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94% (30/32) research outside the app before deciding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7860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100% (32/32) have had a saved item go out of stock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45536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Price uncertainty is the #1 reason not bought (9/32)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712464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19/32 "trust but would double-check" size predictions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46227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  </a:t>
            </a:r>
            <a:pPr indent="0" marL="0">
              <a:buNone/>
            </a:pPr>
            <a:r>
              <a:rPr lang="en-US" sz="1400" u="sng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Google Form (n=32)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1325880"/>
            <a:ext cx="525780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152704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 — 6 people, 2 waves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92024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“If it was 1,200 I probably would've bought it then and there.”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65176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P1, on a saved pair of jeans, waiting for a specific price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06324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corpus-sparse category (fit, price, occasion, timing) was independently confirmed real here. 6/6 raised availability decay unprompted — the single most unanimous finding in the project.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4023360"/>
            <a:ext cx="4709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run as originally planned: the brief asks to pick one segment, then validate it with 5–6 targeted interviews. These stayed exploratory across barriers instead, because no single segment was chosen going in — disclosed plainly, not smoothed over.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 pre-filter (slide 2, step 3) is what made this corpus usable at all — a cheap engine built specifically to pick real pre-purchase signal out of a much noisier raw pull of app-store reviews, before any deeper classification or gold-set labeling happened.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thinking evolved, one link at a time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81912"/>
            <a:ext cx="2468880" cy="493776"/>
          </a:xfrm>
          <a:prstGeom prst="roundRect">
            <a:avLst>
              <a:gd name="adj" fmla="val 14815"/>
            </a:avLst>
          </a:prstGeom>
          <a:solidFill>
            <a:srgbClr val="5B3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58191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METRIC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1463040"/>
            <a:ext cx="7818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within 30 days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148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28600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404872"/>
            <a:ext cx="2468880" cy="493776"/>
          </a:xfrm>
          <a:prstGeom prst="roundRect">
            <a:avLst>
              <a:gd name="adj" fmla="val 14815"/>
            </a:avLst>
          </a:prstGeom>
          <a:solidFill>
            <a:srgbClr val="6E4A5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240487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OUTCOMES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2286000"/>
            <a:ext cx="7818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× Availability × Re-encounter × Resolution × Checkout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29718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10896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227832"/>
            <a:ext cx="2468880" cy="493776"/>
          </a:xfrm>
          <a:prstGeom prst="roundRect">
            <a:avLst>
              <a:gd name="adj" fmla="val 14815"/>
            </a:avLst>
          </a:prstGeom>
          <a:solidFill>
            <a:srgbClr val="B58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322783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DISCOVERY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3108960"/>
            <a:ext cx="7818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categories corpus-visible; 5 corpus-blind — a finding, not a dead end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37947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93192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4050792"/>
            <a:ext cx="2468880" cy="493776"/>
          </a:xfrm>
          <a:prstGeom prst="roundRect">
            <a:avLst>
              <a:gd name="adj" fmla="val 14815"/>
            </a:avLst>
          </a:prstGeom>
          <a:solidFill>
            <a:srgbClr val="4B6B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405079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RESEARCH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703320" y="3931920"/>
            <a:ext cx="7818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 corpus-blind barriers confirmed real via survey + interviews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46177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475488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4873752"/>
            <a:ext cx="2468880" cy="493776"/>
          </a:xfrm>
          <a:prstGeom prst="roundRect">
            <a:avLst>
              <a:gd name="adj" fmla="val 14815"/>
            </a:avLst>
          </a:prstGeom>
          <a:solidFill>
            <a:srgbClr val="C97B7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8680" y="487375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703320" y="4754880"/>
            <a:ext cx="7818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segment chosen, evidenced end to end (next slide)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chain, in writing: docs/decisions/problem-definition.md — every link traces to a file already in this repo, not a narrative built after the fact.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Price-Timing Waiters can't tell if waiting is rational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41248" y="160020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1920240"/>
            <a:ext cx="30998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Price-Timing Waiters — save an item they like, deliberately wait for a self-set price target before buying. Largest gold-set count (11) and largest survey reason (9/32).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776472" y="1572768"/>
            <a:ext cx="292608" cy="292608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776472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79392" y="146304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60020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OUTCOME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1920240"/>
            <a:ext cx="30998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— getting a user's price uncertainty answered with real evidence, inside the 30-day window, before the item decays or intent fades.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415784" y="1572768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15784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18704" y="146304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19872" y="160020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119872" y="1920240"/>
            <a:ext cx="30998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wishlist shows one current price and nothing else. No trend, no history — so a user has no way to tell if waiting is rational or just habit.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1055096" y="1572768"/>
            <a:ext cx="292608" cy="292608"/>
          </a:xfrm>
          <a:prstGeom prst="ellipse">
            <a:avLst/>
          </a:prstGeom>
          <a:solidFill>
            <a:srgbClr val="4B6B4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055096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56616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" y="370332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WORKAROUND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4023360"/>
            <a:ext cx="30998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 of survey respondents already leave the app to research before deciding — a real, quantified workaround the product doesn't need to invent, only bring in-app.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776472" y="3675888"/>
            <a:ext cx="292608" cy="292608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776472" y="3675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279392" y="356616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480560" y="370332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VALUE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480560" y="4023360"/>
            <a:ext cx="30998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a repeated, manual, cross-platform research chore for a decision the user has already shown real intent toward — less regret, less re-research effort.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415784" y="3675888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415784" y="3675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918704" y="356616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19872" y="370332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119872" y="4023360"/>
            <a:ext cx="30998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demand already on the platform, already explicit (a saved item), at no acquisition cost — the only failure mode is a stalled decision, not a missing customer.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1055096" y="3675888"/>
            <a:ext cx="292608" cy="292608"/>
          </a:xfrm>
          <a:prstGeom prst="ellipse">
            <a:avLst/>
          </a:prstGeom>
          <a:solidFill>
            <a:srgbClr val="4B6B4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1055096" y="3675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for being most fully evidenced and buildable — not for being the only real barrier. quality_trust, fit_size, and availability_decay are each independently confirmed too (docs/decisions/opportunity-selection.md); availability_decay has the strongest cross-method triangulation of all four (6/6 interviews, 32/32 survey).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rationale: a Discovery Concierge, not a discount engine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honored: no monetary incentives — every nudge resolves real uncertainty. None manufacture urgency or offer a discount.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2900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07692" y="2194560"/>
            <a:ext cx="493776" cy="493776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107692" y="21945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620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Evidence-backed reasoning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41071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4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recommendation traces to a real theme, a real review, or a real interview finding — never a generic “picked for you.”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51960" y="1965960"/>
            <a:ext cx="342900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719572" y="2194560"/>
            <a:ext cx="493776" cy="493776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19572" y="21945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8620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confidence states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41071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4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/ Medium / Insufficient-evidence, always icon + color + label together — confidence is shown, never implied by color alone.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863840" y="1965960"/>
            <a:ext cx="342900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31452" y="2194560"/>
            <a:ext cx="493776" cy="493776"/>
          </a:xfrm>
          <a:prstGeom prst="ellipse">
            <a:avLst/>
          </a:prstGeom>
          <a:solidFill>
            <a:srgbClr val="4B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331452" y="21945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28620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manufactured urgency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341071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4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if I wait” tells the truth — a real scarcity fact, or an honest “nothing changes.” Never a fake countdown.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7548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FE6D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4864608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design, not a chatbot or a discount banner — </a:t>
            </a:r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root cause (slide 6) is missing evidence, not missing motivation or missing conversation. A price-history strip and an honest "if you wait" answer directly fix a visibility gap; a chat interface or a coupon would each address a different problem this research didn't find.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MVP: the problem, resolved end to end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246224" y="1225296"/>
            <a:ext cx="1664208" cy="2212848"/>
          </a:xfrm>
          <a:prstGeom prst="roundRect">
            <a:avLst>
              <a:gd name="adj" fmla="val 7692"/>
            </a:avLst>
          </a:prstGeom>
          <a:solidFill>
            <a:srgbClr val="211D1B"/>
          </a:solidFill>
          <a:ln/>
        </p:spPr>
      </p:sp>
      <p:pic>
        <p:nvPicPr>
          <p:cNvPr id="4" name="Image 0" descr="C:\Users\sanka\Documents\Projects\NL-Myntra Graduation Project\docs\deck-assets\01-persona-picker-expan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301088" y="1280160"/>
            <a:ext cx="1554480" cy="2103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72488" y="3474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Picker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855568" y="1280160"/>
            <a:ext cx="457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257904" y="1225296"/>
            <a:ext cx="1664208" cy="2212848"/>
          </a:xfrm>
          <a:prstGeom prst="roundRect">
            <a:avLst>
              <a:gd name="adj" fmla="val 7692"/>
            </a:avLst>
          </a:prstGeom>
          <a:solidFill>
            <a:srgbClr val="211D1B"/>
          </a:solidFill>
          <a:ln/>
        </p:spPr>
      </p:sp>
      <p:pic>
        <p:nvPicPr>
          <p:cNvPr id="8" name="Image 1" descr="C:\Users\sanka\Documents\Projects\NL-Myntra Graduation Project\docs\deck-assets\02-wishlist-intelligen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12768" y="1280160"/>
            <a:ext cx="1554480" cy="21031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084168" y="3474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Intelligence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867248" y="1280160"/>
            <a:ext cx="457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269584" y="1225296"/>
            <a:ext cx="1664208" cy="2212848"/>
          </a:xfrm>
          <a:prstGeom prst="roundRect">
            <a:avLst>
              <a:gd name="adj" fmla="val 7692"/>
            </a:avLst>
          </a:prstGeom>
          <a:solidFill>
            <a:srgbClr val="211D1B"/>
          </a:solidFill>
          <a:ln/>
        </p:spPr>
      </p:sp>
      <p:pic>
        <p:nvPicPr>
          <p:cNvPr id="12" name="Image 2" descr="C:\Users\sanka\Documents\Projects\NL-Myntra Graduation Project\docs\deck-assets\03-item-detail-price-box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24448" y="1280160"/>
            <a:ext cx="1554480" cy="2103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095848" y="3474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Detail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7878928" y="1280160"/>
            <a:ext cx="457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8281264" y="1225296"/>
            <a:ext cx="1664208" cy="2212848"/>
          </a:xfrm>
          <a:prstGeom prst="roundRect">
            <a:avLst>
              <a:gd name="adj" fmla="val 7692"/>
            </a:avLst>
          </a:prstGeom>
          <a:solidFill>
            <a:srgbClr val="211D1B"/>
          </a:solidFill>
          <a:ln/>
        </p:spPr>
      </p:sp>
      <p:pic>
        <p:nvPicPr>
          <p:cNvPr id="16" name="Image 3" descr="C:\Users\sanka\Documents\Projects\NL-Myntra Graduation Project\docs\deck-assets\04-decision-check-ope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336128" y="1280160"/>
            <a:ext cx="1554480" cy="2103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107528" y="3474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Check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640080" y="3931920"/>
            <a:ext cx="10881360" cy="1828800"/>
          </a:xfrm>
          <a:prstGeom prst="roundRect">
            <a:avLst>
              <a:gd name="adj" fmla="val 4000"/>
            </a:avLst>
          </a:prstGeom>
          <a:solidFill>
            <a:srgbClr val="EFE6D8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914400" y="4069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CASE — WIDE-LEG JEANS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914400" y="438912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it was 1,200 I probably would've bought it then and there.” — the real interview quote (slide 4) directly powers this item's price-history box and Decision Check reasoning. Traced end to end from problem definition to pixel, not a plausible-sounding guess.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914400" y="5029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shown live today: real category filter chips, an honest "Holding steady" bucket for settled-but-thin-evidence items, and "Tracking a partial move" for items with a real, quantified price drop that hasn't hit target yet — three separate, verified fixes so the UI never contradicts its own data.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640080" y="5897880"/>
            <a:ext cx="1088136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5875">
            <a:solidFill>
              <a:srgbClr val="4B6B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914400" y="5897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MVP   </a:t>
            </a:r>
            <a:pPr indent="0" marL="0">
              <a:buNone/>
            </a:pPr>
            <a:r>
              <a:rPr lang="en-US" sz="1400" u="sng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https://mvp-henna-delta.vercel.app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means saves that convert, not saves that pile up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91640"/>
            <a:ext cx="2103120" cy="960120"/>
          </a:xfrm>
          <a:prstGeom prst="roundRect">
            <a:avLst>
              <a:gd name="adj" fmla="val 7619"/>
            </a:avLst>
          </a:prstGeom>
          <a:solidFill>
            <a:srgbClr val="5B3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spc="50" kern="0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1691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Wishlist-to-Purchase, Within 30 Days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21488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metric this whole project decomposes and targets (slide 1). Unchanged.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63240"/>
            <a:ext cx="2103120" cy="960120"/>
          </a:xfrm>
          <a:prstGeom prst="roundRect">
            <a:avLst>
              <a:gd name="adj" fmla="val 7619"/>
            </a:avLst>
          </a:prstGeom>
          <a:solidFill>
            <a:srgbClr val="B5822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06324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spc="50" kern="0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LEADING INDICATORS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3063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Trace-widget open rate · Trace-to-cart conversion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35204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reasoning get read — and does resolving uncertainty actually lead to action?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29768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434840"/>
            <a:ext cx="2103120" cy="960120"/>
          </a:xfrm>
          <a:prstGeom prst="roundRect">
            <a:avLst>
              <a:gd name="adj" fmla="val 7619"/>
            </a:avLst>
          </a:prstGeom>
          <a:solidFill>
            <a:srgbClr val="4B6B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443484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spc="50" kern="0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74720" y="44348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False-urgency rate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74720" y="4892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if I wait” shown where stock/price didn't actually change afterward. Designed in from day one, not added for this slide.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number is claimed as currently measured that isn't — the MVP is not yet wired to a live event pipeline for these three. They are the defined, agreed targets this project's architecture is built to support, not a retrospective result.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1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go wrong, and what we're doing about it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2C2622"/>
          </a:solidFill>
          <a:ln w="12700">
            <a:solidFill>
              <a:srgbClr val="463D3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56362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categories, wobbly numbers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947672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AE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fit_size / quality_trust / price_certainty rest on small samples (n=5–11); recall moved run to run (0.4→0.5→0.545).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8892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FAF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Treated as directional, disclosed in every writeup — never presented as exact.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0" y="1554480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41732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2C2622"/>
          </a:solidFill>
          <a:ln w="12700">
            <a:solidFill>
              <a:srgbClr val="463D3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156362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skews toward complaints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947672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AE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Review-writers aren't representative; Reddit/YouTube/social scoped out for policy/time reasons.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78892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FAF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Triangulated against survey (n=32) and interviews (n=6) — caught what the corpus alone would have missed.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1109960" y="1554480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10996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74904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2C2622"/>
          </a:solidFill>
          <a:ln w="12700">
            <a:solidFill>
              <a:srgbClr val="463D3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8953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Local-model consistency is weak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279392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AE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accuracy 0.875 vs. human labels, but κ=0.159 between the primary and backup classifiers.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512064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FAF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Production path uses the stronger hosted model with retry-escalation; local is a documented fallback only.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0" y="3886200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63640" y="374904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2C2622"/>
          </a:solidFill>
          <a:ln w="12700">
            <a:solidFill>
              <a:srgbClr val="463D3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37960" y="38953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validation stayed exploratory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4279392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AE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 weren't targeted at one pre-chosen segment (the brief's Part 3 sequencing) — the evidence didn't support choosing one first.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537960" y="512064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FAF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Disclosed plainly (docs/decisions/opportunity-selection.md); the deck's chosen segment (slide 6) rests on the strongest available evidence anyway.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1109960" y="3886200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110996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1264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REPO &amp; RESEARCH TRAIL   </a:t>
            </a:r>
            <a:pPr indent="0" marL="0">
              <a:buNone/>
            </a:pPr>
            <a:r>
              <a:rPr lang="en-US" sz="1400" u="sng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github.com/blazing-llama/NL-Myntra-Graduation-Project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2026-09-04T23:01:45Z</dcterms:created>
  <dcterms:modified xsi:type="dcterms:W3CDTF">2026-09-04T23:01:45Z</dcterms:modified>
</cp:coreProperties>
</file>