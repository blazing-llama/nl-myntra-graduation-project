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1D1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11D1B"/>
                </a:solidFill>
                <a:latin typeface="Arial"/>
              </a:rPr>
              <a:t>Barrier categories in the frozen gold set (n=137)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Gold-set count</c:v>
                </c:pt>
              </c:strCache>
            </c:strRef>
          </c:tx>
          <c:spPr>
            <a:solidFill>
              <a:srgbClr val="5B3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11D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price_certainty</c:v>
                  </c:pt>
                  <c:pt idx="1">
                    <c:v>quality_trust</c:v>
                  </c:pt>
                  <c:pt idx="2">
                    <c:v>fit_size</c:v>
                  </c:pt>
                  <c:pt idx="3">
                    <c:v>availability_decay</c:v>
                  </c:pt>
                  <c:pt idx="4">
                    <c:v>occasion_styling</c:v>
                  </c:pt>
                  <c:pt idx="5">
                    <c:v>timing_forgetting</c:v>
                  </c:pt>
                  <c:pt idx="6">
                    <c:v>bookmark_not_intent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</c:v>
                </c:pt>
                <c:pt idx="1">
                  <c:v>7</c:v>
                </c:pt>
                <c:pt idx="2">
                  <c:v>6</c:v>
                </c:pt>
                <c:pt idx="3">
                  <c:v>5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11D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43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6F1EA"/>
        </a:solidFill>
        <a:ln>
          <a:noFill/>
        </a:ln>
        <a:effectLst/>
      </c:spPr>
    </c:plotArea>
    <c:plotVisOnly val="1"/>
    <c:dispBlanksAs val="span"/>
  </c:chart>
  <c:spPr>
    <a:solidFill>
      <a:srgbClr val="F6F1E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(0–1 scale)</c:v>
                </c:pt>
              </c:strCache>
            </c:strRef>
          </c:tx>
          <c:spPr>
            <a:solidFill>
              <a:srgbClr val="5B3A4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11D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3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822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E1 — accuracy vs. 137 human-labeled reviews</c:v>
                  </c:pt>
                  <c:pt idx="1">
                    <c:v>E3 — cross-model agreement (Cohen's kappa)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0.875</c:v>
                </c:pt>
                <c:pt idx="1">
                  <c:v>0.159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400" u="none">
                  <a:solidFill>
                    <a:srgbClr val="211D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43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6F1EA"/>
        </a:solidFill>
        <a:ln>
          <a:noFill/>
        </a:ln>
        <a:effectLst/>
      </c:spPr>
    </c:plotArea>
    <c:plotVisOnly val="1"/>
    <c:dispBlanksAs val="span"/>
  </c:chart>
  <c:spPr>
    <a:solidFill>
      <a:srgbClr val="F6F1E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zeusworkspace1.app.n8n.cloud/webhook/wishlist-discovery-engin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forms/d/e/1FAIpQLScsU5OcvTbEetugF0pG-ek2eo_8VEz1DLEjX0gMDsydgOHizA/viewfor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hyperlink" Target="https://mvp-henna-delta.vercel.app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lazing-llama/NL-Myntra-Graduation-Project" TargetMode="External"/><Relationship Id="rId1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· GROWTH · WISHLIST-TO-PURCHASE CONVERSION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 saves rarely become purchases — and reviews alone can't explain why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goal: increase the % of users who purchase at least one wishlisted item within 30 days of adding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246120"/>
            <a:ext cx="1728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32461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97480" y="3246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70632" y="3246120"/>
            <a:ext cx="1728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461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3246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28032" y="3246120"/>
            <a:ext cx="1728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Re-encounter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2461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12280" y="3246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85432" y="3246120"/>
            <a:ext cx="1728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3246120"/>
            <a:ext cx="201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869680" y="32461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42832" y="3246120"/>
            <a:ext cx="1728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572000"/>
            <a:ext cx="10104120" cy="594360"/>
          </a:xfrm>
          <a:prstGeom prst="roundRect">
            <a:avLst>
              <a:gd name="adj" fmla="val 12308"/>
            </a:avLst>
          </a:prstGeom>
          <a:solidFill>
            <a:srgbClr val="6E4A5B"/>
          </a:solidFill>
          <a:ln w="12700">
            <a:solidFill>
              <a:srgbClr val="B582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4572000"/>
            <a:ext cx="9646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Price-Certainty — a soft hesitation factor that modulates Resolution, not a hard sequential gate like Availability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3492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factor breaks down — and for whom — was unknown going in. That's what this project set out to find, end to end: AI discovery → primary research → a working, evidence-grounded MVP.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AI discovery engine classified 2,203 user voices across 3 sources — here's how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16736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16736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apps, 2 sources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95728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42032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18688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18688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15184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15184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+ PII scrub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43984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20640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120640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17136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Pre-filter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17136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relevance pass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45936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22592" y="1929384"/>
            <a:ext cx="402336" cy="402336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022592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19088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Set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19088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n=137, 89.4% agree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101584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247888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924544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924544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Groq, retry-escalation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003536" y="1783080"/>
            <a:ext cx="164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149840" y="1783080"/>
            <a:ext cx="175564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826496" y="1929384"/>
            <a:ext cx="402336" cy="40233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826496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0222992" y="2404872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22992" y="2743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40080" y="356616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5B3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22960" y="36393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2,203</a:t>
            </a:r>
            <a:endParaRPr lang="en-US" sz="32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" y="418795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classified, checkpointed — stopped intentionally, not stalled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114800" y="356616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343400" y="3703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DISCOVERY ENGINE LIVE</a:t>
            </a:r>
            <a:endParaRPr lang="en-US" sz="1400" dirty="0"/>
          </a:p>
        </p:txBody>
      </p:sp>
      <p:sp>
        <p:nvSpPr>
          <p:cNvPr id="43" name="Text 41">
            <a:hlinkClick r:id="rId1" tooltip=""/>
          </p:cNvPr>
          <p:cNvSpPr txBox="1"/>
          <p:nvPr/>
        </p:nvSpPr>
        <p:spPr>
          <a:xfrm>
            <a:off x="4343400" y="4041648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u="sng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https://zeusworkspace1.app.n8n.cloud/webhook/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u="sng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wishlist-discovery-engine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0292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actually scraped at scale: Play Store + App Store reviews. Two were consciously not pursued in this window, not silently skipped: Reddit was scoped out per Reddit's Responsible Builder Policy, which funnels bulk research use through a formal researcher program this project's timeline couldn't accommodate. YouTube comments and social/community sources were never attempted — disclosed here for the same reason, not hidden.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Reviews found two real barriers — and revealed their own blind spot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73736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360920" y="17373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5B3A4A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589520" y="18105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137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235915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human-labeled gold set — 2 independent labelers, 89.4% raw agreement, 100% category agreement on jointly-flagged items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360920" y="315468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9520" y="3227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58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0.875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377647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accuracy against human labels — measured, not assumed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60920" y="457200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EFE6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589520" y="4681728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categories never appeared in review corpora at all — not because they're rare, but because reviews are the wrong place to find them. Primary research picks up where the corpus stops.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one of 6 interviewees hit the same wall: items disappear before they decide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5B3A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9202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independently raised it, unprompted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51960" y="17830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5B3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480560" y="19202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32/32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respondents (100%) have experienced 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63840" y="17830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EFE6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92440" y="19202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gold-set corpus examples — reviews miss it almost entirely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4B6B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6118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“If something says only two left, I'll probably decide faster.”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interview respondent, on how a near-miss stock-out changed future decision speed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074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methods — corpus, survey, interviews — converge on one answer: availability decay is real and common, and app reviews are structurally the wrong instrument to measure it.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6692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(n=32)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docs.google.com/forms/d/e/1FAIpQLScsU5OcvTbEetugF0pG-ek2eo_8VEz1DLEjX0gMDsydgOHizA/viewform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problem: purchase intent, blocked by different uncertainty at the moment of decision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57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8836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Wishlist-savers with unresolved decision-stage uncertainty — spans price, fit, quality, occasion, and availability doubt, not one narrow group.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856232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0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257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8836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19456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disinterest. A specific, often-nameable uncertainty sits between saving and buying — today's wishlist gives no help resolving it.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018520" y="1856232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018520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566160"/>
            <a:ext cx="5257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7124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WORKAROUND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02336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already compensate manually: cross-platform price/review checks, substitute purchases, rushed decisions after a stock-out scare.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0" y="3685032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3685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3566160"/>
            <a:ext cx="5257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37124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402336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less regret, less re-research effort. Business: converts demand that's already explicit and already on the platform — no acquisition cost.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1018520" y="3685032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018520" y="3685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note: the brief's kill-criteria single-segment selection could not be run — no segment-tagged corpus data exists, and building it risked reopening the frozen gold set or inferring segments never observed. Full reasoning: docs/decisions/opportunity-selection.md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Discovery Concierge that resolves the one barrier blocking each save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honored: no monetary incentives — every nudge resolves real uncertainty. None manufacture urgency or offer a discount.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29000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80260" y="2423160"/>
            <a:ext cx="548640" cy="548640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0802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72968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reasoning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776472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 traces to a real theme, a real review, or a real interview finding — never a generic “picked for you.”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51960" y="2148840"/>
            <a:ext cx="3429000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92140" y="2423160"/>
            <a:ext cx="548640" cy="548640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921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172968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 states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776472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Medium / Insufficient-evidence, always icon + color + label together — confidence is shown, never implied by color alone.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863840" y="2148840"/>
            <a:ext cx="3429000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04020" y="2423160"/>
            <a:ext cx="548640" cy="548640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040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172968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manufactured urgency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3776472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tells the truth — a real scarcity fact, or an honest “nothing changes.” Never a fake countdown.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EFE6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120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reachable —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Similar (a real side-by-side against another saved item, never shown empty) and Alternatives (secondary browse, substitutes tied to existing wishlist items). Same 3 rules apply: honest CTAs only — Save / Compare / Move to cart, no "Buy Now" anywhere.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MVP: real evidence, never guessed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903324" y="1362456"/>
            <a:ext cx="1801368" cy="2670048"/>
          </a:xfrm>
          <a:prstGeom prst="roundRect">
            <a:avLst>
              <a:gd name="adj" fmla="val 7107"/>
            </a:avLst>
          </a:prstGeom>
          <a:solidFill>
            <a:srgbClr val="211D1B"/>
          </a:solidFill>
          <a:ln/>
        </p:spPr>
      </p:sp>
      <p:pic>
        <p:nvPicPr>
          <p:cNvPr id="4" name="Image 0" descr="C:\Users\sanka\Documents\Projects\NL-Myntra Graduation Project\docs\deck-assets\01-persona-picker-expan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58188" y="1417320"/>
            <a:ext cx="1691640" cy="2560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29588" y="4069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Picker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649828" y="1417320"/>
            <a:ext cx="502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097884" y="1362456"/>
            <a:ext cx="1801368" cy="2670048"/>
          </a:xfrm>
          <a:prstGeom prst="roundRect">
            <a:avLst>
              <a:gd name="adj" fmla="val 7107"/>
            </a:avLst>
          </a:prstGeom>
          <a:solidFill>
            <a:srgbClr val="211D1B"/>
          </a:solidFill>
          <a:ln/>
        </p:spPr>
      </p:sp>
      <p:pic>
        <p:nvPicPr>
          <p:cNvPr id="8" name="Image 1" descr="C:\Users\sanka\Documents\Projects\NL-Myntra Graduation Project\docs\deck-assets\02-wishlist-intellig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52748" y="1417320"/>
            <a:ext cx="1691640" cy="2560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924148" y="4069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Intelligence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844388" y="1417320"/>
            <a:ext cx="502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292444" y="1362456"/>
            <a:ext cx="1801368" cy="2670048"/>
          </a:xfrm>
          <a:prstGeom prst="roundRect">
            <a:avLst>
              <a:gd name="adj" fmla="val 7107"/>
            </a:avLst>
          </a:prstGeom>
          <a:solidFill>
            <a:srgbClr val="211D1B"/>
          </a:solidFill>
          <a:ln/>
        </p:spPr>
      </p:sp>
      <p:pic>
        <p:nvPicPr>
          <p:cNvPr id="12" name="Image 2" descr="C:\Users\sanka\Documents\Projects\NL-Myntra Graduation Project\docs\deck-assets\03-item-detail-price-bo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47308" y="1417320"/>
            <a:ext cx="1691640" cy="2560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118708" y="4069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Detail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8038948" y="1417320"/>
            <a:ext cx="502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487004" y="1362456"/>
            <a:ext cx="1801368" cy="2670048"/>
          </a:xfrm>
          <a:prstGeom prst="roundRect">
            <a:avLst>
              <a:gd name="adj" fmla="val 7107"/>
            </a:avLst>
          </a:prstGeom>
          <a:solidFill>
            <a:srgbClr val="211D1B"/>
          </a:solidFill>
          <a:ln/>
        </p:spPr>
      </p:sp>
      <p:pic>
        <p:nvPicPr>
          <p:cNvPr id="16" name="Image 3" descr="C:\Users\sanka\Documents\Projects\NL-Myntra Graduation Project\docs\deck-assets\04-decision-check-ope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541868" y="1417320"/>
            <a:ext cx="1691640" cy="2560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13268" y="4069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Check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40080" y="46177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FE6D8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914400" y="4727448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CASE — WIDE-LEG JEANS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914400" y="49834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it was 1,200 I probably would've bought it then and there.” — real interview quote, directly powering the item's price-history box and confidence reasoning above. Not a template filled with a plausible-sounding guess.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40080" y="571500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4400" y="57150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MVP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https://mvp-henna-delta.vercel.app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don't trust AI insights blindly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691640"/>
          <a:ext cx="108813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384048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EFE6D8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40233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 aren't the problem — the small local model is.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438912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human labelers, using the same taxonomy, reached 89.4% raw agreement and 100% category agreement on items they both flagged relevant. The task is learnable. E3's low kappa reflects a genuinely undersized local model standing in for a stronger one — not an ambiguous codebook. Production classification uses the stronger hosted model; the small local model is a documented fallback, not the primary path.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6692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 &amp; RESEARCH TRAIL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github.com/blazing-llama/NL-Myntra-Graduation-Project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means saves that convert, not saves that pile up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8288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8745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Wishlist-to-Purchase, Within 30 Days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40487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metric this whole project decomposes and targets. Unchanged.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4290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B582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2900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LEADING INDICATORS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34747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Trace-widget open rate · Trace-to-cart conversion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400507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reasoning get read — and does resolving uncertainty actually lead to action?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50292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4B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02920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50749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False-urgency rate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560527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shown where stock/price didn't actually change afterward. Designed in from day one, not added for this slide.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1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go wrong, and what we're doing about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93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categories, wobbly numbers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9572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fit_size / quality_trust / price_certainty rest on small samples (n=5–11); recall moved run to run (0.4→0.5→0.545).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3580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Treated as directional, disclosed in every writeup — never presented as exact.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0" y="196596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993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skews toward complaints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39572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Review-writers aren't representative; Reddit/YouTube/social scoped out for policy/time reasons.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303580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Triangulated against survey (n=32) and interviews (n=6) — caught what the corpus alone would have missed.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109960" y="196596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10996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0690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2336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Local-model consistency is weak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63600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Kappa = 0.159 between the primary and backup classifiers.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2760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Production path uses the stronger hosted model with retry-escalation; local is a documented fallback only.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0" y="420624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40690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42336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reasoning is templated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636008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 doesn't yet call a live model against real per-user history.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52760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Disclosed openly. Deterministic-retrieval-then-narration is already the intended production architecture.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1109960" y="420624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11099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2026-09-04T15:08:27Z</dcterms:created>
  <dcterms:modified xsi:type="dcterms:W3CDTF">2026-09-04T15:08:27Z</dcterms:modified>
</cp:coreProperties>
</file>